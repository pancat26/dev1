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6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29968"/>
            <a:ext cx="1051560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0" b="1" dirty="0">
                <a:solidFill>
                  <a:srgbClr val="1A1A1A"/>
                </a:solidFill>
                <a:latin typeface="Calibri"/>
              </a:rPr>
              <a:t>dev1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703320"/>
            <a:ext cx="914400" cy="64008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dirty="0">
                <a:solidFill>
                  <a:srgbClr val="1E558B"/>
                </a:solidFill>
                <a:latin typeface="Calibri"/>
              </a:rPr>
              <a:t>A Python coding agent for repository-aware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6096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300" b="0" dirty="0">
                <a:solidFill>
                  <a:srgbClr val="8A8A8A"/>
                </a:solidFill>
                <a:latin typeface="Calibri"/>
              </a:rPr>
              <a:t>Team1 </a:t>
            </a:r>
            <a:r>
              <a:rPr sz="1300" b="0" dirty="0">
                <a:solidFill>
                  <a:srgbClr val="8A8A8A"/>
                </a:solidFill>
                <a:latin typeface="Calibri"/>
              </a:rPr>
              <a:t>·</a:t>
            </a:r>
            <a:r>
              <a:rPr lang="en-US" sz="1300" b="0" dirty="0">
                <a:solidFill>
                  <a:srgbClr val="8A8A8A"/>
                </a:solidFill>
                <a:latin typeface="Calibri"/>
              </a:rPr>
              <a:t> UDLLM</a:t>
            </a:r>
            <a:r>
              <a:rPr sz="1300" b="0" dirty="0">
                <a:solidFill>
                  <a:srgbClr val="8A8A8A"/>
                </a:solidFill>
                <a:latin typeface="Calibri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A1A1A"/>
                </a:solidFill>
                <a:latin typeface="Calibri"/>
              </a:rPr>
              <a:t>What dev1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502920" cy="45720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57118"/>
            <a:ext cx="10607040" cy="2743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2600" b="1" dirty="0">
                <a:solidFill>
                  <a:srgbClr val="1E558B"/>
                </a:solidFill>
                <a:latin typeface="Calibri"/>
              </a:rPr>
              <a:t>▸  </a:t>
            </a:r>
            <a:r>
              <a:rPr sz="2600" b="0" dirty="0">
                <a:solidFill>
                  <a:srgbClr val="333333"/>
                </a:solidFill>
                <a:latin typeface="Calibri"/>
              </a:rPr>
              <a:t>Ingest a Python GitHub repository and explore it through chat.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2600" b="1" dirty="0">
                <a:solidFill>
                  <a:srgbClr val="1E558B"/>
                </a:solidFill>
                <a:latin typeface="Calibri"/>
              </a:rPr>
              <a:t>▸  </a:t>
            </a:r>
            <a:r>
              <a:rPr sz="2600" b="0" dirty="0">
                <a:solidFill>
                  <a:srgbClr val="333333"/>
                </a:solidFill>
                <a:latin typeface="Calibri"/>
              </a:rPr>
              <a:t>Answer questions </a:t>
            </a:r>
            <a:r>
              <a:rPr lang="en-US" sz="2600" b="0" dirty="0">
                <a:solidFill>
                  <a:srgbClr val="333333"/>
                </a:solidFill>
                <a:latin typeface="Calibri"/>
              </a:rPr>
              <a:t>based on repo</a:t>
            </a:r>
            <a:r>
              <a:rPr sz="2600" b="0" dirty="0">
                <a:solidFill>
                  <a:srgbClr val="333333"/>
                </a:solidFill>
                <a:latin typeface="Calibri"/>
              </a:rPr>
              <a:t>: </a:t>
            </a:r>
            <a:r>
              <a:rPr sz="2600" b="1" dirty="0">
                <a:solidFill>
                  <a:srgbClr val="333333"/>
                </a:solidFill>
                <a:latin typeface="Calibri"/>
              </a:rPr>
              <a:t>structure</a:t>
            </a:r>
            <a:r>
              <a:rPr sz="2600" b="0" dirty="0">
                <a:solidFill>
                  <a:srgbClr val="333333"/>
                </a:solidFill>
                <a:latin typeface="Calibri"/>
              </a:rPr>
              <a:t>, </a:t>
            </a:r>
            <a:r>
              <a:rPr sz="2600" b="1" dirty="0">
                <a:solidFill>
                  <a:srgbClr val="333333"/>
                </a:solidFill>
                <a:latin typeface="Calibri"/>
              </a:rPr>
              <a:t>symbols</a:t>
            </a:r>
            <a:r>
              <a:rPr sz="2600" b="0" dirty="0">
                <a:solidFill>
                  <a:srgbClr val="333333"/>
                </a:solidFill>
                <a:latin typeface="Calibri"/>
              </a:rPr>
              <a:t>, </a:t>
            </a:r>
            <a:r>
              <a:rPr sz="2600" b="1" dirty="0">
                <a:solidFill>
                  <a:srgbClr val="333333"/>
                </a:solidFill>
                <a:latin typeface="Calibri"/>
              </a:rPr>
              <a:t>behavior</a:t>
            </a:r>
            <a:r>
              <a:rPr sz="2600" b="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2600" b="1" dirty="0">
                <a:solidFill>
                  <a:srgbClr val="1E558B"/>
                </a:solidFill>
                <a:latin typeface="Calibri"/>
              </a:rPr>
              <a:t>▸  </a:t>
            </a:r>
            <a:r>
              <a:rPr lang="en-US" sz="2600" b="0" dirty="0">
                <a:solidFill>
                  <a:srgbClr val="333333"/>
                </a:solidFill>
                <a:latin typeface="Calibri"/>
              </a:rPr>
              <a:t>Find</a:t>
            </a:r>
            <a:r>
              <a:rPr sz="26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en-US" sz="2600" b="0" dirty="0">
                <a:solidFill>
                  <a:srgbClr val="333333"/>
                </a:solidFill>
                <a:latin typeface="Calibri"/>
              </a:rPr>
              <a:t>bugs </a:t>
            </a:r>
            <a:r>
              <a:rPr sz="2600" b="0" dirty="0">
                <a:solidFill>
                  <a:srgbClr val="333333"/>
                </a:solidFill>
                <a:latin typeface="Calibri"/>
              </a:rPr>
              <a:t>and suggest fixes.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2600" b="1" dirty="0">
                <a:solidFill>
                  <a:srgbClr val="1E558B"/>
                </a:solidFill>
                <a:latin typeface="Calibri"/>
              </a:rPr>
              <a:t>▸  </a:t>
            </a:r>
            <a:r>
              <a:rPr sz="2600" b="0" dirty="0">
                <a:solidFill>
                  <a:srgbClr val="333333"/>
                </a:solidFill>
                <a:latin typeface="Calibri"/>
              </a:rPr>
              <a:t>Stream answers with citations to file paths and line ranges</a:t>
            </a:r>
            <a:r>
              <a:rPr lang="en-US" sz="2600" b="0" dirty="0">
                <a:solidFill>
                  <a:srgbClr val="333333"/>
                </a:solidFill>
                <a:latin typeface="Calibri"/>
              </a:rPr>
              <a:t>.</a:t>
            </a:r>
            <a:endParaRPr sz="26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dev1 · A Python coding agent for repository-aware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dirty="0">
                <a:solidFill>
                  <a:srgbClr val="1A1A1A"/>
                </a:solidFill>
                <a:latin typeface="Calibri"/>
              </a:rPr>
              <a:t>The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502920" cy="45720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56991"/>
            <a:ext cx="10972800" cy="48500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1E558B"/>
                </a:solidFill>
              </a:rPr>
              <a:t>▸ </a:t>
            </a:r>
            <a:r>
              <a:rPr sz="2600" dirty="0">
                <a:solidFill>
                  <a:srgbClr val="333333"/>
                </a:solidFill>
                <a:latin typeface="Calibri"/>
              </a:rPr>
              <a:t>Where dev1 sits next to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 some</a:t>
            </a:r>
            <a:r>
              <a:rPr sz="2600" dirty="0">
                <a:solidFill>
                  <a:srgbClr val="333333"/>
                </a:solidFill>
                <a:latin typeface="Calibri"/>
              </a:rPr>
              <a:t> existing tools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:</a:t>
            </a:r>
            <a:endParaRPr sz="2600" dirty="0">
              <a:solidFill>
                <a:srgbClr val="333333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828292"/>
              </p:ext>
            </p:extLst>
          </p:nvPr>
        </p:nvGraphicFramePr>
        <p:xfrm>
          <a:off x="640080" y="2080925"/>
          <a:ext cx="9464891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0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2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Tool family</a:t>
                      </a:r>
                    </a:p>
                  </a:txBody>
                  <a:tcPr anchor="ctr">
                    <a:solidFill>
                      <a:srgbClr val="1E55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Repo-aware</a:t>
                      </a:r>
                    </a:p>
                  </a:txBody>
                  <a:tcPr anchor="ctr">
                    <a:solidFill>
                      <a:srgbClr val="1E55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anchor="ctr">
                    <a:solidFill>
                      <a:srgbClr val="1E55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Fine-tuned for code Q&amp;A</a:t>
                      </a:r>
                    </a:p>
                  </a:txBody>
                  <a:tcPr anchor="ctr">
                    <a:solidFill>
                      <a:srgbClr val="1E55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General chat  (ChatGPT, Claude)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1A1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1A1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1A1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/>
                        </a:rPr>
                        <a:t>Coding assistants </a:t>
                      </a:r>
                      <a:r>
                        <a:rPr sz="1500" b="1" dirty="0">
                          <a:solidFill>
                            <a:srgbClr val="1A1A1A"/>
                          </a:solidFill>
                          <a:latin typeface="Calibri"/>
                        </a:rPr>
                        <a:t>(Copilot, Cursor</a:t>
                      </a: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/>
                        </a:rPr>
                        <a:t>, Claude Code</a:t>
                      </a:r>
                      <a:r>
                        <a:rPr sz="1500" b="1" dirty="0">
                          <a:solidFill>
                            <a:srgbClr val="1A1A1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>
                          <a:solidFill>
                            <a:srgbClr val="1A1A1A"/>
                          </a:solidFill>
                          <a:latin typeface="+mn-lt"/>
                        </a:rPr>
                        <a:t>✓</a:t>
                      </a:r>
                    </a:p>
                  </a:txBody>
                  <a:tcPr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A1A1A"/>
                          </a:solidFill>
                          <a:latin typeface="Calibri"/>
                        </a:rPr>
                        <a:t>dev1</a:t>
                      </a:r>
                    </a:p>
                  </a:txBody>
                  <a:tcPr anchor="ctr">
                    <a:solidFill>
                      <a:srgbClr val="E0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E0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E0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E0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dev1 · A Python coding agent for repository-aware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3 / 14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DBD15-C342-58C2-4512-53CFB928A806}"/>
              </a:ext>
            </a:extLst>
          </p:cNvPr>
          <p:cNvSpPr txBox="1"/>
          <p:nvPr/>
        </p:nvSpPr>
        <p:spPr>
          <a:xfrm>
            <a:off x="640080" y="4994392"/>
            <a:ext cx="10972800" cy="48500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1E558B"/>
                </a:solidFill>
              </a:rPr>
              <a:t>▸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Close to </a:t>
            </a:r>
            <a:r>
              <a:rPr lang="en-US" sz="2600" dirty="0" err="1">
                <a:solidFill>
                  <a:srgbClr val="333333"/>
                </a:solidFill>
                <a:latin typeface="Calibri"/>
              </a:rPr>
              <a:t>DeepWiki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 in spirit</a:t>
            </a:r>
            <a:endParaRPr sz="260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A1A1A"/>
                </a:solidFill>
                <a:latin typeface="Calibri"/>
              </a:rPr>
              <a:t>High-level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502920" cy="45720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91419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8A8A8A"/>
                </a:solidFill>
                <a:latin typeface="Calibri"/>
              </a:rPr>
              <a:t>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0035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8A8A8A"/>
                </a:solidFill>
                <a:latin typeface="Calibri"/>
              </a:rPr>
              <a:t>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5366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8A8A8A"/>
                </a:solidFill>
                <a:latin typeface="Calibri"/>
              </a:rPr>
              <a:t>DATA  / 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280160"/>
            <a:ext cx="3017520" cy="68580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lang="en-US" sz="1400" b="1" dirty="0">
                <a:solidFill>
                  <a:srgbClr val="1A1A1A"/>
                </a:solidFill>
              </a:rPr>
              <a:t>React </a:t>
            </a:r>
            <a:r>
              <a:rPr sz="1400" b="1" dirty="0">
                <a:solidFill>
                  <a:srgbClr val="1A1A1A"/>
                </a:solidFill>
                <a:latin typeface="Calibri"/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2331720"/>
            <a:ext cx="9144000" cy="109728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ctr">
              <a:lnSpc>
                <a:spcPct val="115000"/>
              </a:lnSpc>
            </a:pPr>
            <a:r>
              <a:rPr sz="1600" b="1" dirty="0" err="1">
                <a:solidFill>
                  <a:srgbClr val="1A1A1A"/>
                </a:solidFill>
                <a:latin typeface="Calibri"/>
              </a:rPr>
              <a:t>FastAPI</a:t>
            </a:r>
            <a:r>
              <a:rPr sz="1600" b="1" dirty="0">
                <a:solidFill>
                  <a:srgbClr val="1A1A1A"/>
                </a:solidFill>
                <a:latin typeface="Calibri"/>
              </a:rPr>
              <a:t> </a:t>
            </a:r>
            <a:r>
              <a:rPr lang="en-US" sz="1600" b="1" dirty="0">
                <a:solidFill>
                  <a:srgbClr val="1A1A1A"/>
                </a:solidFill>
                <a:latin typeface="Calibri"/>
              </a:rPr>
              <a:t>B</a:t>
            </a:r>
            <a:r>
              <a:rPr sz="1600" b="1" dirty="0">
                <a:solidFill>
                  <a:srgbClr val="1A1A1A"/>
                </a:solidFill>
                <a:latin typeface="Calibri"/>
              </a:rPr>
              <a:t>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6880" y="2809890"/>
            <a:ext cx="8778240" cy="26096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Repository management  ·  Indexing  ·  Retrieval  ·  </a:t>
            </a:r>
            <a:r>
              <a:rPr lang="en-US" sz="1300" b="0" dirty="0">
                <a:solidFill>
                  <a:srgbClr val="333333"/>
                </a:solidFill>
                <a:latin typeface="Calibri"/>
              </a:rPr>
              <a:t>Agent </a:t>
            </a:r>
            <a:r>
              <a:rPr lang="en-US" sz="1300" dirty="0">
                <a:solidFill>
                  <a:srgbClr val="333333"/>
                </a:solidFill>
                <a:latin typeface="Calibri"/>
              </a:rPr>
              <a:t>o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rchestration</a:t>
            </a:r>
            <a:r>
              <a:rPr lang="en-US" sz="1300" dirty="0">
                <a:solidFill>
                  <a:srgbClr val="333333"/>
                </a:solidFill>
              </a:rPr>
              <a:t> ·  Answer streaming</a:t>
            </a:r>
            <a:endParaRPr sz="13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954107" y="3912885"/>
            <a:ext cx="2286000" cy="86868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 dirty="0">
                <a:solidFill>
                  <a:srgbClr val="1A1A1A"/>
                </a:solidFill>
                <a:latin typeface="Calibri"/>
              </a:rPr>
              <a:t>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5947" y="4979686"/>
            <a:ext cx="2286000" cy="86868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 dirty="0" err="1">
                <a:solidFill>
                  <a:srgbClr val="1A1A1A"/>
                </a:solidFill>
                <a:latin typeface="Calibri"/>
              </a:rPr>
              <a:t>Qdrant</a:t>
            </a:r>
            <a:endParaRPr sz="130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26480" y="3912885"/>
            <a:ext cx="2286000" cy="86868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 dirty="0">
                <a:solidFill>
                  <a:srgbClr val="1A1A1A"/>
                </a:solidFill>
                <a:latin typeface="Calibri"/>
              </a:rPr>
              <a:t>Repo snapshots  (disk)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9120" y="4979686"/>
            <a:ext cx="2286000" cy="86868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Calibri"/>
              </a:rPr>
              <a:t>llama.cpp  server</a:t>
            </a: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1029547" y="3510280"/>
            <a:ext cx="0" cy="68072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dev1 · A Python coding agent for repository-aware Q&amp;A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9224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4 / 14</a:t>
            </a:r>
          </a:p>
        </p:txBody>
      </p:sp>
      <p:cxnSp>
        <p:nvCxnSpPr>
          <p:cNvPr id="24" name="Connector 19">
            <a:extLst>
              <a:ext uri="{FF2B5EF4-FFF2-40B4-BE49-F238E27FC236}">
                <a16:creationId xmlns:a16="http://schemas.microsoft.com/office/drawing/2014/main" id="{A00A59BA-9090-6073-0623-937C48B1861E}"/>
              </a:ext>
            </a:extLst>
          </p:cNvPr>
          <p:cNvCxnSpPr>
            <a:cxnSpLocks/>
          </p:cNvCxnSpPr>
          <p:nvPr/>
        </p:nvCxnSpPr>
        <p:spPr>
          <a:xfrm>
            <a:off x="1029547" y="1903306"/>
            <a:ext cx="0" cy="68072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A1A1A"/>
                </a:solidFill>
                <a:latin typeface="Calibri"/>
              </a:rPr>
              <a:t>Agentic answering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502920" cy="45720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98075"/>
            <a:ext cx="10972800" cy="96513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1E558B"/>
                </a:solidFill>
              </a:rPr>
              <a:t>▸ </a:t>
            </a:r>
            <a:r>
              <a:rPr sz="2600" dirty="0">
                <a:solidFill>
                  <a:srgbClr val="333333"/>
                </a:solidFill>
                <a:latin typeface="Calibri"/>
              </a:rPr>
              <a:t>Bounded </a:t>
            </a:r>
            <a:r>
              <a:rPr sz="2600" dirty="0" err="1">
                <a:solidFill>
                  <a:srgbClr val="333333"/>
                </a:solidFill>
                <a:latin typeface="Calibri"/>
              </a:rPr>
              <a:t>ReAct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 loop:</a:t>
            </a:r>
            <a:r>
              <a:rPr sz="2600" dirty="0">
                <a:solidFill>
                  <a:srgbClr val="333333"/>
                </a:solidFill>
                <a:latin typeface="Calibri"/>
              </a:rPr>
              <a:t> 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agent </a:t>
            </a:r>
            <a:r>
              <a:rPr lang="en-US" sz="2600" dirty="0">
                <a:solidFill>
                  <a:srgbClr val="333333"/>
                </a:solidFill>
              </a:rPr>
              <a:t>reasons over evidence, 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calls tools, and then settles on an answer</a:t>
            </a:r>
            <a:endParaRPr sz="26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542405"/>
            <a:ext cx="2350693" cy="123444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Calibri"/>
              </a:rPr>
              <a:t>User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3693" y="2542405"/>
            <a:ext cx="2350693" cy="123444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 dirty="0">
                <a:solidFill>
                  <a:srgbClr val="1A1A1A"/>
                </a:solidFill>
                <a:latin typeface="Calibri"/>
              </a:rPr>
              <a:t>Retrieve evidence
(</a:t>
            </a:r>
            <a:r>
              <a:rPr sz="1300" b="0" dirty="0" err="1">
                <a:solidFill>
                  <a:srgbClr val="1A1A1A"/>
                </a:solidFill>
                <a:latin typeface="Calibri"/>
              </a:rPr>
              <a:t>Qdrant</a:t>
            </a:r>
            <a:r>
              <a:rPr sz="1300" b="0" dirty="0">
                <a:solidFill>
                  <a:srgbClr val="1A1A1A"/>
                </a:solidFill>
                <a:latin typeface="Calibri"/>
              </a:rPr>
              <a:t> + reran</a:t>
            </a:r>
            <a:r>
              <a:rPr lang="en-US" sz="1300" b="0" dirty="0">
                <a:solidFill>
                  <a:srgbClr val="1A1A1A"/>
                </a:solidFill>
                <a:latin typeface="Calibri"/>
              </a:rPr>
              <a:t>king</a:t>
            </a:r>
            <a:r>
              <a:rPr sz="1300" b="0" dirty="0">
                <a:solidFill>
                  <a:srgbClr val="1A1A1A"/>
                </a:solidFill>
                <a:latin typeface="Calibri"/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47307" y="2542405"/>
            <a:ext cx="2350693" cy="123444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 dirty="0">
                <a:solidFill>
                  <a:srgbClr val="1A1A1A"/>
                </a:solidFill>
                <a:latin typeface="Calibri"/>
              </a:rPr>
              <a:t>Agent loop
generate   ↻   use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00921" y="2542405"/>
            <a:ext cx="2350693" cy="123444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Calibri"/>
              </a:rPr>
              <a:t>Final answer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45943" y="3170631"/>
            <a:ext cx="393192" cy="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</p:cNvCxnSpPr>
          <p:nvPr/>
        </p:nvCxnSpPr>
        <p:spPr>
          <a:xfrm>
            <a:off x="5899403" y="3170631"/>
            <a:ext cx="393193" cy="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52864" y="3116445"/>
            <a:ext cx="393193" cy="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56486" y="4508365"/>
            <a:ext cx="10607040" cy="27821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8A8A8A"/>
                </a:solidFill>
                <a:latin typeface="Calibri"/>
              </a:rPr>
              <a:t>Available Tools</a:t>
            </a:r>
            <a:endParaRPr sz="1400" b="1" dirty="0">
              <a:solidFill>
                <a:srgbClr val="8A8A8A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843390" y="4828405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Consolas"/>
              </a:rPr>
              <a:t>list_files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2515" y="4828405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Consolas"/>
              </a:rPr>
              <a:t>open_file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5373" y="4828405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Consolas"/>
              </a:rPr>
              <a:t>search_code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18231" y="4828405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 dirty="0" err="1">
                <a:solidFill>
                  <a:srgbClr val="1A1A1A"/>
                </a:solidFill>
                <a:latin typeface="Consolas"/>
              </a:rPr>
              <a:t>symbol_lookup</a:t>
            </a:r>
            <a:endParaRPr sz="1300" b="0" dirty="0">
              <a:solidFill>
                <a:srgbClr val="1A1A1A"/>
              </a:solidFill>
              <a:latin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dev1 · A Python coding agent for repository-aware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9224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5 / 14</a:t>
            </a:r>
          </a:p>
        </p:txBody>
      </p:sp>
      <p:cxnSp>
        <p:nvCxnSpPr>
          <p:cNvPr id="21" name="Connector 9">
            <a:extLst>
              <a:ext uri="{FF2B5EF4-FFF2-40B4-BE49-F238E27FC236}">
                <a16:creationId xmlns:a16="http://schemas.microsoft.com/office/drawing/2014/main" id="{FA40D10F-501A-FE27-8DD7-43FA558E67D7}"/>
              </a:ext>
            </a:extLst>
          </p:cNvPr>
          <p:cNvCxnSpPr>
            <a:cxnSpLocks/>
          </p:cNvCxnSpPr>
          <p:nvPr/>
        </p:nvCxnSpPr>
        <p:spPr>
          <a:xfrm flipH="1">
            <a:off x="6805446" y="3875058"/>
            <a:ext cx="604581" cy="54102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dirty="0">
                <a:solidFill>
                  <a:srgbClr val="1A1A1A"/>
                </a:solidFill>
                <a:latin typeface="Calibri"/>
              </a:rPr>
              <a:t>Model &amp; supervised fine-tuning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502920" cy="45720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36654"/>
            <a:ext cx="11064240" cy="2018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600"/>
              </a:spcAft>
            </a:pPr>
            <a:r>
              <a:rPr lang="en-US" sz="2600" b="1" dirty="0">
                <a:solidFill>
                  <a:srgbClr val="1E558B"/>
                </a:solidFill>
              </a:rPr>
              <a:t>▸</a:t>
            </a:r>
            <a:r>
              <a:rPr sz="2600" b="1" dirty="0">
                <a:solidFill>
                  <a:srgbClr val="1E558B"/>
                </a:solidFill>
                <a:latin typeface="Calibri"/>
              </a:rPr>
              <a:t> </a:t>
            </a:r>
            <a:r>
              <a:rPr sz="2600" dirty="0">
                <a:solidFill>
                  <a:srgbClr val="333333"/>
                </a:solidFill>
                <a:latin typeface="Calibri"/>
              </a:rPr>
              <a:t>Base: Qwen2.5-Coder-7B-Instruct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;</a:t>
            </a:r>
            <a:r>
              <a:rPr sz="2600" dirty="0">
                <a:solidFill>
                  <a:srgbClr val="333333"/>
                </a:solidFill>
                <a:latin typeface="Calibri"/>
              </a:rPr>
              <a:t> code-capable, small enough to serve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 locally</a:t>
            </a:r>
            <a:r>
              <a:rPr sz="260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lang="en-US" sz="2600" b="1" dirty="0">
                <a:solidFill>
                  <a:srgbClr val="1E558B"/>
                </a:solidFill>
              </a:rPr>
              <a:t>▸</a:t>
            </a:r>
            <a:r>
              <a:rPr sz="2600" dirty="0">
                <a:solidFill>
                  <a:srgbClr val="333333"/>
                </a:solidFill>
                <a:latin typeface="Calibri"/>
              </a:rPr>
              <a:t>  Method: </a:t>
            </a:r>
            <a:r>
              <a:rPr sz="2600" dirty="0" err="1">
                <a:solidFill>
                  <a:srgbClr val="333333"/>
                </a:solidFill>
                <a:latin typeface="Calibri"/>
              </a:rPr>
              <a:t>QLoRA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;</a:t>
            </a:r>
            <a:r>
              <a:rPr sz="2600" dirty="0">
                <a:solidFill>
                  <a:srgbClr val="333333"/>
                </a:solidFill>
                <a:latin typeface="Calibri"/>
              </a:rPr>
              <a:t> 4-bit NF4 quantization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, r = 16</a:t>
            </a:r>
            <a:r>
              <a:rPr sz="260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lang="en-US" sz="2600" b="1" dirty="0">
                <a:solidFill>
                  <a:srgbClr val="1E558B"/>
                </a:solidFill>
              </a:rPr>
              <a:t>▸</a:t>
            </a:r>
            <a:r>
              <a:rPr sz="2600" dirty="0">
                <a:solidFill>
                  <a:srgbClr val="333333"/>
                </a:solidFill>
                <a:latin typeface="Calibri"/>
              </a:rPr>
              <a:t>  Data: </a:t>
            </a:r>
            <a:r>
              <a:rPr sz="2600" dirty="0" err="1">
                <a:solidFill>
                  <a:srgbClr val="333333"/>
                </a:solidFill>
                <a:latin typeface="Calibri"/>
              </a:rPr>
              <a:t>nvidia</a:t>
            </a:r>
            <a:r>
              <a:rPr sz="2600" dirty="0">
                <a:solidFill>
                  <a:srgbClr val="333333"/>
                </a:solidFill>
                <a:latin typeface="Calibri"/>
              </a:rPr>
              <a:t>/</a:t>
            </a:r>
            <a:r>
              <a:rPr sz="2600" dirty="0" err="1">
                <a:solidFill>
                  <a:srgbClr val="333333"/>
                </a:solidFill>
                <a:latin typeface="Calibri"/>
              </a:rPr>
              <a:t>OpenCodeInstruct</a:t>
            </a:r>
            <a:r>
              <a:rPr sz="2600" dirty="0">
                <a:solidFill>
                  <a:srgbClr val="333333"/>
                </a:solidFill>
                <a:latin typeface="Calibri"/>
              </a:rPr>
              <a:t>, 80k examples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.</a:t>
            </a:r>
            <a:endParaRPr sz="26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dev1 · A Python coding agent for repository-aware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A1A1A"/>
                </a:solidFill>
                <a:latin typeface="Calibri"/>
              </a:rPr>
              <a:t>DPO from collected preferences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502920" cy="45720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09217"/>
            <a:ext cx="10972800" cy="48500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1E558B"/>
                </a:solidFill>
              </a:rPr>
              <a:t>▸ </a:t>
            </a:r>
            <a:r>
              <a:rPr sz="2600" dirty="0">
                <a:solidFill>
                  <a:srgbClr val="333333"/>
                </a:solidFill>
                <a:latin typeface="Calibri"/>
              </a:rPr>
              <a:t>Pairwise feedback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, </a:t>
            </a:r>
            <a:r>
              <a:rPr sz="2600" dirty="0">
                <a:solidFill>
                  <a:srgbClr val="333333"/>
                </a:solidFill>
                <a:latin typeface="Calibri"/>
              </a:rPr>
              <a:t>DPO adapter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779971" cy="114300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 dirty="0">
                <a:solidFill>
                  <a:srgbClr val="1A1A1A"/>
                </a:solidFill>
                <a:latin typeface="Calibri"/>
              </a:rPr>
              <a:t>Sampled
chat turn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2971" y="2743200"/>
            <a:ext cx="1779971" cy="114300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Calibri"/>
              </a:rPr>
              <a:t>Two candidates
streamed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05862" y="2743200"/>
            <a:ext cx="1779971" cy="114300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Calibri"/>
              </a:rPr>
              <a:t>User selects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8753" y="2743200"/>
            <a:ext cx="1779971" cy="114300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 dirty="0" err="1">
                <a:solidFill>
                  <a:srgbClr val="1A1A1A"/>
                </a:solidFill>
                <a:latin typeface="Calibri"/>
              </a:rPr>
              <a:t>rlhf_feedback</a:t>
            </a:r>
            <a:r>
              <a:rPr sz="1300" b="0" dirty="0">
                <a:solidFill>
                  <a:srgbClr val="1A1A1A"/>
                </a:solidFill>
                <a:latin typeface="Calibri"/>
              </a:rPr>
              <a:t>
(Postgres)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71644" y="2743200"/>
            <a:ext cx="1779971" cy="114300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Calibri"/>
              </a:rPr>
              <a:t>DPO LoRA on
SFT-merged base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75220" y="3298614"/>
            <a:ext cx="393192" cy="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57806" y="3298614"/>
            <a:ext cx="393192" cy="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40697" y="3298614"/>
            <a:ext cx="393192" cy="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3588" y="3298614"/>
            <a:ext cx="393192" cy="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dev1 · A Python coding agent for repository-aware 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9224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7 / 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6452C6-0F6E-52FD-A65A-C7A70DB375A9}"/>
              </a:ext>
            </a:extLst>
          </p:cNvPr>
          <p:cNvSpPr txBox="1"/>
          <p:nvPr/>
        </p:nvSpPr>
        <p:spPr>
          <a:xfrm>
            <a:off x="640080" y="4581403"/>
            <a:ext cx="10972800" cy="48237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1E558B"/>
                </a:solidFill>
              </a:rPr>
              <a:t>▸ 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Sampling rate set server-side</a:t>
            </a:r>
            <a:endParaRPr sz="260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dirty="0">
                <a:solidFill>
                  <a:srgbClr val="1A1A1A"/>
                </a:solidFill>
                <a:latin typeface="Calibri"/>
              </a:rPr>
              <a:t>Training &amp; local serving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502920" cy="45720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96513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1E558B"/>
                </a:solidFill>
              </a:rPr>
              <a:t>▸ 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Q</a:t>
            </a:r>
            <a:r>
              <a:rPr sz="2600" dirty="0">
                <a:solidFill>
                  <a:srgbClr val="333333"/>
                </a:solidFill>
                <a:latin typeface="Calibri"/>
              </a:rPr>
              <a:t>uantized GGUF served by llama.cpp</a:t>
            </a:r>
            <a:endParaRPr lang="en-US" sz="2600" dirty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1E558B"/>
                </a:solidFill>
              </a:rPr>
              <a:t>▸ 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Vulkan and CUDA available builds were a plus</a:t>
            </a:r>
            <a:endParaRPr sz="26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606040"/>
            <a:ext cx="1779971" cy="109728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200" b="0" dirty="0">
                <a:solidFill>
                  <a:srgbClr val="1A1A1A"/>
                </a:solidFill>
                <a:latin typeface="Calibri"/>
              </a:rPr>
              <a:t>Qwen2.5-Coder-7B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2971" y="2606040"/>
            <a:ext cx="1779971" cy="109728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QLoRA SFT
OpenCodeInstruct  80k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05862" y="2606040"/>
            <a:ext cx="1779971" cy="109728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Merge adapter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8753" y="2606040"/>
            <a:ext cx="1779971" cy="109728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GGUF  +  Q4_K_M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71644" y="2606040"/>
            <a:ext cx="1779971" cy="109728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200" b="0" dirty="0">
                <a:solidFill>
                  <a:srgbClr val="1A1A1A"/>
                </a:solidFill>
                <a:latin typeface="Calibri"/>
              </a:rPr>
              <a:t>llama-server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75220" y="3154680"/>
            <a:ext cx="393192" cy="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57806" y="3154680"/>
            <a:ext cx="393192" cy="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40697" y="3188547"/>
            <a:ext cx="393192" cy="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3588" y="3175000"/>
            <a:ext cx="393192" cy="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426189" y="4430743"/>
            <a:ext cx="92354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4617720"/>
            <a:ext cx="9235440" cy="26096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dirty="0">
                <a:solidFill>
                  <a:srgbClr val="8A8A8A"/>
                </a:solidFill>
                <a:latin typeface="Calibri"/>
              </a:rPr>
              <a:t>TRAINING 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983480"/>
            <a:ext cx="923544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Cloud GPU  ·  RTX 5090  ·  32 GB VRAM  ·  92 GB system 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532120"/>
            <a:ext cx="9235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dirty="0">
                <a:solidFill>
                  <a:srgbClr val="1E558B"/>
                </a:solidFill>
                <a:latin typeface="Calibri"/>
              </a:rPr>
              <a:t>Final SFT loss: 0.0147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dev1 · A Python coding agent for repository-aware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9224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55399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dirty="0">
                <a:solidFill>
                  <a:srgbClr val="1A1A1A"/>
                </a:solidFill>
                <a:latin typeface="Calibri"/>
              </a:rPr>
              <a:t>RAG</a:t>
            </a:r>
            <a:r>
              <a:rPr lang="en-US" sz="3000" b="1" dirty="0">
                <a:solidFill>
                  <a:srgbClr val="1A1A1A"/>
                </a:solidFill>
                <a:latin typeface="Calibri"/>
              </a:rPr>
              <a:t>:</a:t>
            </a:r>
            <a:r>
              <a:rPr sz="3000" b="1" dirty="0">
                <a:solidFill>
                  <a:srgbClr val="1A1A1A"/>
                </a:solidFill>
                <a:latin typeface="Calibri"/>
              </a:rPr>
              <a:t> chunking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502920" cy="45720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dev1 · A Python coding agent for repository-aware Q&amp;A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9224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9 / 14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65860A-3BF5-F886-64A5-329AE5C55A38}"/>
              </a:ext>
            </a:extLst>
          </p:cNvPr>
          <p:cNvSpPr txBox="1"/>
          <p:nvPr/>
        </p:nvSpPr>
        <p:spPr>
          <a:xfrm>
            <a:off x="609600" y="2310045"/>
            <a:ext cx="10972800" cy="233313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lang="en-US" sz="2600" b="1" dirty="0">
                <a:solidFill>
                  <a:srgbClr val="1E558B"/>
                </a:solidFill>
              </a:rPr>
              <a:t>▸ 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Python </a:t>
            </a:r>
            <a:r>
              <a:rPr lang="en-US" sz="2600" b="1" dirty="0" err="1">
                <a:solidFill>
                  <a:srgbClr val="333333"/>
                </a:solidFill>
                <a:latin typeface="Calibri"/>
              </a:rPr>
              <a:t>ast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 module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lang="en-US" sz="2600" b="1" dirty="0">
                <a:solidFill>
                  <a:srgbClr val="1E558B"/>
                </a:solidFill>
              </a:rPr>
              <a:t>▸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 Each chunk carries: repo ID, commit SHA, file path, chunk type (function, method, class, documentation section), line range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lang="en-US" sz="2600" b="1" dirty="0">
                <a:solidFill>
                  <a:srgbClr val="1E558B"/>
                </a:solidFill>
              </a:rPr>
              <a:t>▸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 Embeddings: all-MiniLM-L6-v2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55399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dirty="0">
                <a:solidFill>
                  <a:srgbClr val="1A1A1A"/>
                </a:solidFill>
                <a:latin typeface="Calibri"/>
              </a:rPr>
              <a:t>RAG</a:t>
            </a:r>
            <a:r>
              <a:rPr lang="en-US" sz="3000" b="1" dirty="0">
                <a:solidFill>
                  <a:srgbClr val="1A1A1A"/>
                </a:solidFill>
                <a:latin typeface="Calibri"/>
              </a:rPr>
              <a:t>:</a:t>
            </a:r>
            <a:r>
              <a:rPr sz="3000" b="1" dirty="0">
                <a:solidFill>
                  <a:srgbClr val="1A1A1A"/>
                </a:solidFill>
                <a:latin typeface="Calibri"/>
              </a:rPr>
              <a:t> retrieval &amp;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502920" cy="45720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779971" cy="114300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User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2971" y="2743200"/>
            <a:ext cx="1779971" cy="114300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Embed
(MiniLM)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05862" y="2743200"/>
            <a:ext cx="1779971" cy="114300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Qdrant search
per-repo filter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8753" y="2743200"/>
            <a:ext cx="1779971" cy="114300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Metadata
rerank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71644" y="2743200"/>
            <a:ext cx="1779971" cy="1143000"/>
          </a:xfrm>
          <a:prstGeom prst="roundRect">
            <a:avLst>
              <a:gd name="adj" fmla="val 15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Evidence package
primary · related · docs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75220" y="3271520"/>
            <a:ext cx="393192" cy="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57806" y="3305387"/>
            <a:ext cx="393192" cy="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40697" y="3271520"/>
            <a:ext cx="393192" cy="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3588" y="3271520"/>
            <a:ext cx="393192" cy="0"/>
          </a:xfrm>
          <a:prstGeom prst="line">
            <a:avLst/>
          </a:prstGeom>
          <a:ln w="25400">
            <a:solidFill>
              <a:srgbClr val="1236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dev1 · A Python coding agent for repository-aware 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9224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55399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dirty="0">
                <a:solidFill>
                  <a:srgbClr val="1A1A1A"/>
                </a:solidFill>
                <a:latin typeface="Calibri"/>
              </a:rPr>
              <a:t>Evaluation</a:t>
            </a:r>
            <a:r>
              <a:rPr lang="en-US" sz="3000" b="1" dirty="0">
                <a:solidFill>
                  <a:srgbClr val="1A1A1A"/>
                </a:solidFill>
                <a:latin typeface="Calibri"/>
              </a:rPr>
              <a:t>:</a:t>
            </a:r>
            <a:r>
              <a:rPr sz="3000" b="1" dirty="0">
                <a:solidFill>
                  <a:srgbClr val="1A1A1A"/>
                </a:solidFill>
                <a:latin typeface="Calibri"/>
              </a:rPr>
              <a:t> retrieval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502920" cy="45720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72800" cy="48500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1E558B"/>
                </a:solidFill>
              </a:rPr>
              <a:t>▸ </a:t>
            </a:r>
            <a:r>
              <a:rPr sz="2600" dirty="0">
                <a:solidFill>
                  <a:srgbClr val="333333"/>
                </a:solidFill>
                <a:latin typeface="Calibri"/>
              </a:rPr>
              <a:t>Auto-generated questions on held-out repos; ground truth from </a:t>
            </a:r>
            <a:r>
              <a:rPr sz="2600" b="1" dirty="0" err="1">
                <a:solidFill>
                  <a:srgbClr val="333333"/>
                </a:solidFill>
                <a:latin typeface="Calibri"/>
              </a:rPr>
              <a:t>ast</a:t>
            </a:r>
            <a:endParaRPr sz="2600" b="1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47672"/>
            <a:ext cx="2834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8A8A"/>
                </a:solidFill>
                <a:latin typeface="Calibri"/>
              </a:rPr>
              <a:t>TOP-1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9260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E558B"/>
                </a:solidFill>
                <a:latin typeface="Calibri"/>
              </a:rPr>
              <a:t>74.6%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207" y="178308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78527" y="1947672"/>
            <a:ext cx="2834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8A8A"/>
                </a:solidFill>
                <a:latin typeface="Calibri"/>
              </a:rPr>
              <a:t>RECALL@3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807" y="2148840"/>
            <a:ext cx="29260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E558B"/>
                </a:solidFill>
                <a:latin typeface="Calibri"/>
              </a:rPr>
              <a:t>89.6%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78308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42655" y="1947672"/>
            <a:ext cx="2834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8A8A"/>
                </a:solidFill>
                <a:latin typeface="Calibri"/>
              </a:rPr>
              <a:t>RECALL@5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6935" y="2148840"/>
            <a:ext cx="29260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E558B"/>
                </a:solidFill>
                <a:latin typeface="Calibri"/>
              </a:rPr>
              <a:t>95.5%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338328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Repo</a:t>
                      </a:r>
                    </a:p>
                  </a:txBody>
                  <a:tcPr anchor="ctr">
                    <a:solidFill>
                      <a:srgbClr val="1E55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Questions</a:t>
                      </a:r>
                    </a:p>
                  </a:txBody>
                  <a:tcPr anchor="ctr">
                    <a:solidFill>
                      <a:srgbClr val="1E55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Top-1</a:t>
                      </a:r>
                    </a:p>
                  </a:txBody>
                  <a:tcPr anchor="ctr">
                    <a:solidFill>
                      <a:srgbClr val="1E55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Recall@3</a:t>
                      </a:r>
                    </a:p>
                  </a:txBody>
                  <a:tcPr anchor="ctr">
                    <a:solidFill>
                      <a:srgbClr val="1E55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Recall@5</a:t>
                      </a:r>
                    </a:p>
                  </a:txBody>
                  <a:tcPr anchor="ctr">
                    <a:solidFill>
                      <a:srgbClr val="1E55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Task-Management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Tetris-Game</a:t>
                      </a:r>
                    </a:p>
                  </a:txBody>
                  <a:tcPr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46.7%</a:t>
                      </a:r>
                    </a:p>
                  </a:txBody>
                  <a:tcPr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80.0%</a:t>
                      </a:r>
                    </a:p>
                  </a:txBody>
                  <a:tcPr anchor="ctr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90.0%</a:t>
                      </a:r>
                    </a:p>
                  </a:txBody>
                  <a:tcPr anchor="ctr"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" y="5394960"/>
            <a:ext cx="10881360" cy="48500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1E558B"/>
                </a:solidFill>
              </a:rPr>
              <a:t>▸ </a:t>
            </a:r>
            <a:r>
              <a:rPr sz="2600" dirty="0">
                <a:solidFill>
                  <a:srgbClr val="333333"/>
                </a:solidFill>
                <a:latin typeface="Calibri"/>
              </a:rPr>
              <a:t>67 generated questions across 2 held-out repos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dev1 · A Python coding agent for repository-aware 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9224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55399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dirty="0">
                <a:solidFill>
                  <a:srgbClr val="1A1A1A"/>
                </a:solidFill>
                <a:latin typeface="Calibri"/>
              </a:rPr>
              <a:t>Evaluation</a:t>
            </a:r>
            <a:r>
              <a:rPr lang="en-US" sz="3000" b="1" dirty="0">
                <a:solidFill>
                  <a:srgbClr val="1A1A1A"/>
                </a:solidFill>
                <a:latin typeface="Calibri"/>
              </a:rPr>
              <a:t>:</a:t>
            </a:r>
            <a:r>
              <a:rPr sz="3000" b="1" dirty="0">
                <a:solidFill>
                  <a:srgbClr val="1A1A1A"/>
                </a:solidFill>
                <a:latin typeface="Calibri"/>
              </a:rPr>
              <a:t> answer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502920" cy="45720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72800" cy="48500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1E558B"/>
                </a:solidFill>
              </a:rPr>
              <a:t>▸ </a:t>
            </a:r>
            <a:r>
              <a:rPr sz="2600" dirty="0" err="1">
                <a:solidFill>
                  <a:srgbClr val="333333"/>
                </a:solidFill>
                <a:latin typeface="Calibri"/>
              </a:rPr>
              <a:t>DeepEval</a:t>
            </a:r>
            <a:r>
              <a:rPr sz="2600" dirty="0">
                <a:solidFill>
                  <a:srgbClr val="333333"/>
                </a:solidFill>
                <a:latin typeface="Calibri"/>
              </a:rPr>
              <a:t> over the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 query</a:t>
            </a:r>
            <a:r>
              <a:rPr sz="2600" dirty="0">
                <a:solidFill>
                  <a:srgbClr val="333333"/>
                </a:solidFill>
                <a:latin typeface="Calibri"/>
              </a:rPr>
              <a:t> + reconstructed </a:t>
            </a:r>
            <a:r>
              <a:rPr sz="2600" dirty="0" err="1">
                <a:solidFill>
                  <a:srgbClr val="333333"/>
                </a:solidFill>
                <a:latin typeface="Calibri"/>
              </a:rPr>
              <a:t>Qdrant</a:t>
            </a:r>
            <a:r>
              <a:rPr sz="2600" dirty="0">
                <a:solidFill>
                  <a:srgbClr val="333333"/>
                </a:solidFill>
                <a:latin typeface="Calibri"/>
              </a:rPr>
              <a:t>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887" y="2194560"/>
            <a:ext cx="5212080" cy="3017520"/>
          </a:xfrm>
          <a:prstGeom prst="roundRect">
            <a:avLst>
              <a:gd name="adj" fmla="val 6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5207" y="2359152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A8A8A"/>
                </a:solidFill>
                <a:latin typeface="Calibri"/>
              </a:rPr>
              <a:t>ANSWERRELEVANCYMETRIC  (AVG)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487" y="2697480"/>
            <a:ext cx="4754880" cy="2057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600" b="1">
                <a:solidFill>
                  <a:srgbClr val="1E558B"/>
                </a:solidFill>
                <a:latin typeface="Calibri"/>
              </a:rPr>
              <a:t>1.000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207" y="4709160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Answers stay on-topic for the user query.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94560"/>
            <a:ext cx="5212080" cy="3017520"/>
          </a:xfrm>
          <a:prstGeom prst="roundRect">
            <a:avLst>
              <a:gd name="adj" fmla="val 6000"/>
            </a:avLst>
          </a:prstGeom>
          <a:solidFill>
            <a:srgbClr val="ECF2F8"/>
          </a:solidFill>
          <a:ln w="12700">
            <a:solidFill>
              <a:srgbClr val="1E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3047" y="2359152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A8A8A"/>
                </a:solidFill>
                <a:latin typeface="Calibri"/>
              </a:rPr>
              <a:t>FAITHFULNESSMETRIC  (AVG)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697480"/>
            <a:ext cx="4754880" cy="2057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600" b="1">
                <a:solidFill>
                  <a:srgbClr val="1E558B"/>
                </a:solidFill>
                <a:latin typeface="Calibri"/>
              </a:rPr>
              <a:t>0.9818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4709160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Answers stay tied to the retrieved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dev1 · A Python coding agent for repository-aware 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9224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A1A1A"/>
                </a:solidFill>
                <a:latin typeface="Calibri"/>
              </a:rP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502920" cy="45720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57118"/>
            <a:ext cx="10607040" cy="2743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2600" b="1" dirty="0">
                <a:solidFill>
                  <a:srgbClr val="1E558B"/>
                </a:solidFill>
                <a:latin typeface="Calibri"/>
              </a:rPr>
              <a:t>▸  </a:t>
            </a:r>
            <a:r>
              <a:rPr sz="2600" dirty="0">
                <a:solidFill>
                  <a:srgbClr val="333333"/>
                </a:solidFill>
                <a:latin typeface="Calibri"/>
              </a:rPr>
              <a:t>Containerized deployment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lang="en-US" sz="2600" b="1" dirty="0">
                <a:solidFill>
                  <a:srgbClr val="1E558B"/>
                </a:solidFill>
              </a:rPr>
              <a:t>▸</a:t>
            </a:r>
            <a:r>
              <a:rPr sz="2600" dirty="0">
                <a:solidFill>
                  <a:srgbClr val="333333"/>
                </a:solidFill>
                <a:latin typeface="Calibri"/>
              </a:rPr>
              <a:t>  Online RLHF: collect  →  schedule  →  automated retraining cadence.</a:t>
            </a:r>
            <a:r>
              <a:rPr lang="en-US" sz="2600" dirty="0">
                <a:solidFill>
                  <a:srgbClr val="333333"/>
                </a:solidFill>
              </a:rPr>
              <a:t> 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lang="en-US" sz="2600" b="1" dirty="0">
                <a:solidFill>
                  <a:srgbClr val="1E558B"/>
                </a:solidFill>
              </a:rPr>
              <a:t>▸ </a:t>
            </a:r>
            <a:r>
              <a:rPr sz="2600" dirty="0">
                <a:solidFill>
                  <a:srgbClr val="333333"/>
                </a:solidFill>
                <a:latin typeface="Calibri"/>
              </a:rPr>
              <a:t>Language coverage beyond Python.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lang="en-US" sz="2600" b="1" dirty="0">
                <a:solidFill>
                  <a:srgbClr val="1E558B"/>
                </a:solidFill>
              </a:rPr>
              <a:t>▸</a:t>
            </a:r>
            <a:r>
              <a:rPr sz="2600" dirty="0">
                <a:solidFill>
                  <a:srgbClr val="333333"/>
                </a:solidFill>
                <a:latin typeface="Calibri"/>
              </a:rPr>
              <a:t>  Move to </a:t>
            </a:r>
            <a:r>
              <a:rPr sz="2600" dirty="0" err="1">
                <a:solidFill>
                  <a:srgbClr val="333333"/>
                </a:solidFill>
                <a:latin typeface="Calibri"/>
              </a:rPr>
              <a:t>LangGraph</a:t>
            </a:r>
            <a:r>
              <a:rPr sz="2600" dirty="0">
                <a:solidFill>
                  <a:srgbClr val="333333"/>
                </a:solidFill>
                <a:latin typeface="Calibri"/>
              </a:rPr>
              <a:t> if orchestration complexity grows</a:t>
            </a:r>
            <a:r>
              <a:rPr lang="en-US" sz="2600" dirty="0">
                <a:solidFill>
                  <a:srgbClr val="333333"/>
                </a:solidFill>
                <a:latin typeface="Calibri"/>
              </a:rPr>
              <a:t>.</a:t>
            </a:r>
            <a:endParaRPr sz="26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dev1 · A Python coding agent for repository-aware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A8A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D39FB-04B7-A603-A758-D024188DD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3BB59C-4D39-9C2A-BFB3-5AFFC31DFC2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B6CD3-514E-943E-DD10-C120BECE66B6}"/>
              </a:ext>
            </a:extLst>
          </p:cNvPr>
          <p:cNvSpPr txBox="1"/>
          <p:nvPr/>
        </p:nvSpPr>
        <p:spPr>
          <a:xfrm>
            <a:off x="822960" y="2487166"/>
            <a:ext cx="10515600" cy="14157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1A1A1A"/>
                </a:solidFill>
                <a:latin typeface="Calibri"/>
              </a:rPr>
              <a:t>Demo</a:t>
            </a:r>
            <a:endParaRPr sz="80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6AC32D-BC89-C9C8-2FF8-14A3309B968D}"/>
              </a:ext>
            </a:extLst>
          </p:cNvPr>
          <p:cNvSpPr/>
          <p:nvPr/>
        </p:nvSpPr>
        <p:spPr>
          <a:xfrm>
            <a:off x="868680" y="3977639"/>
            <a:ext cx="914400" cy="64008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09443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487166"/>
            <a:ext cx="10515600" cy="14157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000" b="1" dirty="0">
                <a:solidFill>
                  <a:srgbClr val="1A1A1A"/>
                </a:solidFill>
                <a:latin typeface="Calibri"/>
              </a:rPr>
              <a:t>Thank you</a:t>
            </a:r>
            <a:r>
              <a:rPr lang="en-US" sz="8000" b="1" dirty="0">
                <a:solidFill>
                  <a:srgbClr val="1A1A1A"/>
                </a:solidFill>
                <a:latin typeface="Calibri"/>
              </a:rPr>
              <a:t>!</a:t>
            </a:r>
            <a:endParaRPr sz="80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914400" cy="64008"/>
          </a:xfrm>
          <a:prstGeom prst="rect">
            <a:avLst/>
          </a:prstGeom>
          <a:solidFill>
            <a:srgbClr val="1E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1E558B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718</Words>
  <Application>Microsoft Office PowerPoint</Application>
  <PresentationFormat>Widescreen</PresentationFormat>
  <Paragraphs>146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Catalin Pangaleanu</dc:creator>
  <cp:keywords/>
  <dc:description>generated using python-pptx</dc:description>
  <cp:lastModifiedBy>Catalin Pangaleanu</cp:lastModifiedBy>
  <cp:revision>4</cp:revision>
  <dcterms:created xsi:type="dcterms:W3CDTF">2013-01-27T09:14:16Z</dcterms:created>
  <dcterms:modified xsi:type="dcterms:W3CDTF">2026-05-21T11:41:50Z</dcterms:modified>
  <cp:category/>
</cp:coreProperties>
</file>